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9" r:id="rId2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96" y="5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63F879-141A-4EE1-A201-E679762A2961}" type="datetimeFigureOut">
              <a:rPr lang="es-ES" smtClean="0"/>
              <a:t>2026/5/19</a:t>
            </a:fld>
            <a:endParaRPr lang="es-E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s-ES"/>
              <a:t>单击此处编辑母版文本样式</a:t>
            </a:r>
          </a:p>
          <a:p>
            <a:pPr lvl="1"/>
            <a:r>
              <a:rPr lang="zh-CN" altLang="es-ES"/>
              <a:t>二级</a:t>
            </a:r>
          </a:p>
          <a:p>
            <a:pPr lvl="2"/>
            <a:r>
              <a:rPr lang="zh-CN" altLang="es-ES"/>
              <a:t>三级</a:t>
            </a:r>
          </a:p>
          <a:p>
            <a:pPr lvl="3"/>
            <a:r>
              <a:rPr lang="zh-CN" altLang="es-ES"/>
              <a:t>四级</a:t>
            </a:r>
          </a:p>
          <a:p>
            <a:pPr lvl="4"/>
            <a:r>
              <a:rPr lang="zh-CN" altLang="es-ES"/>
              <a:t>五级</a:t>
            </a:r>
            <a:endParaRPr lang="es-E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9EB8F7-8CB7-42EE-875B-3D4B6F8AAF2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6628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EB8F7-8CB7-42EE-875B-3D4B6F8AAF2B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8868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97280" y="1371600"/>
            <a:ext cx="99669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0" y="1371600"/>
            <a:ext cx="109728" cy="4114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63040" y="150876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52A5"/>
                </a:solidFill>
              </a:rPr>
              <a:t>LABORA – Servicios de Empleo y Formación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011680"/>
            <a:ext cx="9326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2B6A"/>
                </a:solidFill>
              </a:rPr>
              <a:t>Integración de Sistemas con
Arquitectura Orientada a Servicios (SOA)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24612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Enterprise Service Bus · SOAP · REST · MuleSoft · Java · Node.js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3931920"/>
            <a:ext cx="9144000" cy="27432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63040" y="40690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MTIS – Integración y Middleware  |  Grupo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069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1A1A2E"/>
                </a:solidFill>
              </a:rPr>
              <a:t>Curso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Índice de la presentación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LABORA – Integración de Sistemas SOA  |  MTIS – Grupo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6019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2/24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61872"/>
            <a:ext cx="438912" cy="347472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30759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1673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Contexto y caso de uso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700784"/>
            <a:ext cx="438912" cy="347472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746504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7556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Actores y casos de uso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139696"/>
            <a:ext cx="438912" cy="347472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2185415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194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Requisitos funcionales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578608"/>
            <a:ext cx="438912" cy="347472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2624327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6334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Requisitos no funcionales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017520"/>
            <a:ext cx="438912" cy="347472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3063239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07238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Arquitectura general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456432"/>
            <a:ext cx="438912" cy="347472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3502151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51129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Principios SOA aplicados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895344"/>
            <a:ext cx="438912" cy="347472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3941063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95020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Servicios SOAP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334256"/>
            <a:ext cx="438912" cy="347472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4379976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389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Algoritmo de Matching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773168"/>
            <a:ext cx="438912" cy="347472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4818888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828031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Ciclo de vida del certificado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212080"/>
            <a:ext cx="438912" cy="347472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5257800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26694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API REST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650992"/>
            <a:ext cx="438912" cy="347472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5760" y="569671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705855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Validaciones de negocio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6089903"/>
            <a:ext cx="438912" cy="347472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5760" y="6135623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614476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Suscripciones y alertas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1261872"/>
            <a:ext cx="438912" cy="347472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0800" y="130759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131673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ESB – MuleSoft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1783079"/>
            <a:ext cx="438912" cy="347472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0" y="1828799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0" y="1837943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Flujo: Publicar Oferta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2304287"/>
            <a:ext cx="438912" cy="347472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00800" y="2350007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40" y="2359151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Flujo: Solicitar Certificado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2825496"/>
            <a:ext cx="438912" cy="347472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00800" y="2871215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49440" y="28803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Gestión de errores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0" y="3346703"/>
            <a:ext cx="438912" cy="347472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00800" y="3392423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49440" y="34015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Modelo de dominio y BD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3867911"/>
            <a:ext cx="438912" cy="347472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400800" y="3913631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49440" y="3922775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Datos de prueba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0" y="4389120"/>
            <a:ext cx="438912" cy="347472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400800" y="4434840"/>
            <a:ext cx="4389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 i="0" dirty="0">
                <a:solidFill>
                  <a:srgbClr val="FFFFFF"/>
                </a:solidFill>
              </a:rPr>
              <a:t>22</a:t>
            </a:r>
            <a:endParaRPr sz="1100" b="1" i="0" dirty="0">
              <a:solidFill>
                <a:srgbClr val="FFFFFF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949440" y="4443983"/>
            <a:ext cx="49377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rgbClr val="1A1A2E"/>
                </a:solidFill>
              </a:rPr>
              <a:t>Decisiones y desafíos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00800" y="4983479"/>
            <a:ext cx="438912" cy="347472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400800" y="5041910"/>
            <a:ext cx="4389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 i="0" dirty="0">
                <a:solidFill>
                  <a:srgbClr val="FFFFFF"/>
                </a:solidFill>
              </a:rPr>
              <a:t>23</a:t>
            </a:r>
            <a:endParaRPr sz="1100" b="1" i="0" dirty="0">
              <a:solidFill>
                <a:srgbClr val="FFFFFF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949440" y="5056851"/>
            <a:ext cx="49377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altLang="zh-CN" sz="1300" b="0" i="0" dirty="0">
                <a:solidFill>
                  <a:srgbClr val="1A1A2E"/>
                </a:solidFill>
              </a:rPr>
              <a:t>Conclusión</a:t>
            </a:r>
            <a:endParaRPr sz="1300" b="0" i="0" dirty="0">
              <a:solidFill>
                <a:srgbClr val="1A1A2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Contexto y caso de uso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¿Qué es LABORA y qué problema resuelve?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LABORA – Integración de Sistemas SOA  |  MTIS – Grupo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019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3/24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34440"/>
            <a:ext cx="539496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234440"/>
            <a:ext cx="5394960" cy="411480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12618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¿Qué es LABORA?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76479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▸  Servicio Público de Empleo de la Comunitat Valenciana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23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▸  Gestiona demandantes, empresas y formación profesional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8152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▸  Tramita certificados, ofertas de empleo y cursos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39896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▸  Conecta ciudadanos, empresas y la Administración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9826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▸  Maneja miles de expedientes y flujos diarios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56631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▸  Actualmente con sistemas dispares y poco integrados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234440"/>
            <a:ext cx="5742432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0" y="1234440"/>
            <a:ext cx="5742432" cy="41148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126187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El problema a resolver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764792"/>
            <a:ext cx="5440680" cy="32918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1810512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Sistemas heterogéneos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11226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Datos en BD separadas, lenguajes distintos, sin comunicación directa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679192"/>
            <a:ext cx="5440680" cy="32918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2724912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Sin integración real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02666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Las empresas no reciben candidatos automáticamente al publicar una oferta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3593592"/>
            <a:ext cx="5440680" cy="32918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55080" y="3639312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Procesos manuales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94106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Los certificados se gestionan sin workflow automatizado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4507992"/>
            <a:ext cx="5440680" cy="329184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55080" y="4553712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Solución propuesta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85546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Arquitectura SOA con ESB como hub central que orquesta todos los flujos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Actores y casos de uso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Tres tipos de usuario con responsabilidades diferenciadas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LABORA – Integración de Sistemas SOA  |  MTIS – Grupo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019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4/24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34440"/>
            <a:ext cx="3840480" cy="411480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79" y="126187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👤  Ciudadano / Demandante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645920"/>
            <a:ext cx="38404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755648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◉  Registrarse en el sistema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37744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◉  Buscar y consultar ofertas de empleo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999232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◉  Aplicar a una oferta (candidatura)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621024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◉  Inscribirse en cursos de formación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42816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◉  Solicitar certificado de demandante activo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864608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◉  Suscribirse a alertas por etiqueta/sector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48640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◉  Recibir notificaciones de preselección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0248" y="1234440"/>
            <a:ext cx="384048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61688" y="126187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🏢  Empresa / Representante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0248" y="1645920"/>
            <a:ext cx="38404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53128" y="1755648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◉  Registrar la empresa en el sistema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3128" y="237744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◉  Publicar nuevas ofertas de empleo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3128" y="2999232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◉  Pausar o cerrar ofertas publicadas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3128" y="3621024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◉  Recibir candidatos preseleccionados (matching)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3128" y="4242816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◉  Consultar estado de sus ofertas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8" y="4864608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◉  Recibir confirmación / rechazo de publicación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128" y="548640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◉  Gestionar el perfil de empresa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0456" y="1234440"/>
            <a:ext cx="3840480" cy="4114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11896" y="126187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🏛️  Administrador LABORA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0456" y="1645920"/>
            <a:ext cx="38404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03336" y="1755648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◉  Gestionar usuarios y empresas del sistema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03336" y="237744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◉  Revisar solicitudes de certificados pendientes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03336" y="2999232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◉  Aprobar o rechazar certificados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03336" y="3621024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◉  Activar / desactivar usuarios o empresas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03336" y="4242816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◉  Supervisar cursos y su estado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03336" y="4864608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◉  Consultar historial de notificaciones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03336" y="548640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◉  Acceso total a todos los recursos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Requisitos funcionales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Qué debe hacer el sistema – organizados por módulo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LABORA – Integración de Sistemas SOA  |  MTIS – Grupo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019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5/24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34440"/>
            <a:ext cx="3749039" cy="384048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79" y="128930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RF-01  Gestión de usuarios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618488"/>
            <a:ext cx="3749039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" y="1746504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Registro con NIF/NIE, nombre, email y 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2276856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Login mediante credenciales (SOAP: AutenticarUsuario)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2807208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Control de acceso por rol (SOAP: VerificarPrivilegios)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1234440"/>
            <a:ext cx="3749039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43399" y="128930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RF-02  Gestión de empresas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59" y="1618488"/>
            <a:ext cx="3749039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16551" y="1746504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Registro de empresa con CIF, nombre y sector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1" y="2276856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Activación/desactivación por el administrador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1" y="2807208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Asociación empresa–representante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1234440"/>
            <a:ext cx="3749039" cy="38404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75319" y="128930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RF-03  Ofertas de empleo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79" y="1618488"/>
            <a:ext cx="3749039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48471" y="1746504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Publicación con título, descripción y etiquetas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1" y="2276856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Estados: ACTIVA / PAUSADA / CERRADA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8471" y="2807208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Validación de empresa activa antes de publicar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721608"/>
            <a:ext cx="3749039" cy="38404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79" y="377647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RF-04  Certificados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105656"/>
            <a:ext cx="3749039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4632" y="4233672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Solicitud por ciudadano (SOAP: SolicitarCertificado)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4764024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Revisión y aprobación/rechazo por administrador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" y="5294376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Emisión con código de verificación y fecha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59" y="3721608"/>
            <a:ext cx="3749039" cy="3840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43399" y="377647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RF-05  Matching automático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51959" y="4105656"/>
            <a:ext cx="3749039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16551" y="4233672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Ejecutar matching al publicar oferta (SOAP)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16551" y="4764024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Score de afinidad CV ↔ oferta (mín. 50%)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16551" y="5294376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Preselección y notificación de top candidatos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83879" y="3721608"/>
            <a:ext cx="3749039" cy="38404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75319" y="377647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RF-06  Cursos y suscripciones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83879" y="4105656"/>
            <a:ext cx="3749039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48471" y="4233672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Catálogo de cursos con estado y fechas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48471" y="4764024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Inscripción de demandantes a cursos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48471" y="5294376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Suscripción a alertas por etiqueta vía email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Requisitos no funcionales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Calidad del sistema más allá de la funcionalidad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LABORA – Integración de Sistemas SOA  |  MTIS – Grupo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019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6/24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34440"/>
            <a:ext cx="3749039" cy="384048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79" y="128930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Interoperabilidad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618488"/>
            <a:ext cx="3749039" cy="2112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349300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Los sistemas deben comunicarse independientemente del lenguaje o plataforma. Se garantiza mediante estándares abiertos: SOAP+WSDL para servicios críticos y REST+OpenAPI para la API de datos.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" y="2852928"/>
            <a:ext cx="3383280" cy="237744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871216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SOAP 1.1 con WSDL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" y="3127248"/>
            <a:ext cx="3383280" cy="237744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145536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OpenAPI 3.0.3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" y="3401568"/>
            <a:ext cx="3383280" cy="237744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419856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JSON y XML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59" y="1234440"/>
            <a:ext cx="3749039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43399" y="128930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Disponibilidad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59" y="1618488"/>
            <a:ext cx="3749039" cy="2112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0" y="1737360"/>
            <a:ext cx="349300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El ESB actúa como punto único de entrada. Si un servicio backend falla, el error handler de MuleSoft devuelve una respuesta controlada al cliente sin propagar el fallo.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16551" y="2852928"/>
            <a:ext cx="3383280" cy="23774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80559" y="2871216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Error handlers en MuleSoft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16551" y="3127248"/>
            <a:ext cx="3383280" cy="23774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80559" y="3145536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Respuestas HTTP estándar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16551" y="3401568"/>
            <a:ext cx="3383280" cy="23774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80559" y="3419856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</a:rPr>
              <a:t>Logging con Winston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79" y="1234440"/>
            <a:ext cx="3749039" cy="38404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75319" y="128930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Seguridad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79" y="1618488"/>
            <a:ext cx="3749039" cy="2112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1040" y="1737360"/>
            <a:ext cx="349300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La autenticación se centraliza en el ServicioIdentidad (SOAP). Los roles se verifican antes de cada operación sensible. Las contraseñas se almacenan con hash SHA-256.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48471" y="2852928"/>
            <a:ext cx="3383280" cy="23774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80" y="2871216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 err="1">
                <a:solidFill>
                  <a:srgbClr val="FFFFFF"/>
                </a:solidFill>
              </a:rPr>
              <a:t>Autenticación</a:t>
            </a:r>
            <a:r>
              <a:rPr sz="1000" b="1" i="0" dirty="0">
                <a:solidFill>
                  <a:srgbClr val="FFFFFF"/>
                </a:solidFill>
              </a:rPr>
              <a:t> </a:t>
            </a:r>
            <a:r>
              <a:rPr sz="1000" b="1" i="0" dirty="0" err="1">
                <a:solidFill>
                  <a:srgbClr val="FFFFFF"/>
                </a:solidFill>
              </a:rPr>
              <a:t>vía</a:t>
            </a:r>
            <a:r>
              <a:rPr sz="1000" b="1" i="0" dirty="0">
                <a:solidFill>
                  <a:srgbClr val="FFFFFF"/>
                </a:solidFill>
              </a:rPr>
              <a:t> NIF/NIE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48471" y="3127248"/>
            <a:ext cx="3383280" cy="23774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12480" y="3145536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Control de roles (3 niveles)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48471" y="3401568"/>
            <a:ext cx="3383280" cy="23774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12480" y="3419856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Hash SHA-256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840480"/>
            <a:ext cx="3749039" cy="38404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11479" y="389534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Escalabilidad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224528"/>
            <a:ext cx="3749039" cy="2112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7200" y="4343400"/>
            <a:ext cx="349300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La BD usa un pool de 10 conexiones MySQL. El ESB puede escalar horizontalmente en Anypoint Runtime Fabric. ActiveMQ desacopla el envío de notificaciones del flujo principal.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4632" y="5458968"/>
            <a:ext cx="3383280" cy="23774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8640" y="5477256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Pool MySQL (10 conexiones)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" y="5733288"/>
            <a:ext cx="3383280" cy="23774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48640" y="5751576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Mensajería asíncrona (JMS)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4632" y="6007608"/>
            <a:ext cx="3383280" cy="23774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8640" y="6025896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Colas ActiveMQ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51959" y="3840480"/>
            <a:ext cx="3749039" cy="3840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343399" y="389534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Mantenibilidad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51959" y="4224528"/>
            <a:ext cx="3749039" cy="2112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389120" y="4343400"/>
            <a:ext cx="349300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Los contratos WSDL y OpenAPI son la fuente de verdad. El código del backend se generó automáticamente desde el YAML (code-gen). Los flujos Mule son configuración, no código.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416551" y="5458968"/>
            <a:ext cx="3383280" cy="23774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480559" y="5477256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Code-gen desde OpenAPI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416551" y="5733288"/>
            <a:ext cx="3383280" cy="23774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480559" y="5751576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WSDL como contrato formal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416551" y="6007608"/>
            <a:ext cx="3383280" cy="23774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480559" y="6025896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DataWeave para transforms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83879" y="3840480"/>
            <a:ext cx="3749039" cy="38404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275319" y="389534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Trazabilidad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83879" y="4224528"/>
            <a:ext cx="3749039" cy="2112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321040" y="4343400"/>
            <a:ext cx="349300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Cada petición se registra en el servidor REST (Winston, combined.log). Los flujos MuleSoft tienen Logger en puntos clave. Las notificaciones quedan almacenadas en BD con fecha.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48471" y="5458968"/>
            <a:ext cx="3383280" cy="23774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412480" y="5477256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</a:rPr>
              <a:t>Winston logger (REST)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348471" y="5733288"/>
            <a:ext cx="3383280" cy="23774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412480" y="5751576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Logger en flujos Mule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48471" y="6007608"/>
            <a:ext cx="3383280" cy="23774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412480" y="6025896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Tabla notificaciones en BD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Arquitectura general del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Patrón SOA con ESB como núcleo de integración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LABORA – Integración de Sistemas SOA  |  MTIS – Grupo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019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7/24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2286000" cy="960120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12527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CAPA CLIENTE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61848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Frontend Web
(Vite / JS)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1097280"/>
            <a:ext cx="4114800" cy="242316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023360" y="1097280"/>
            <a:ext cx="4114800" cy="38404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23360" y="111556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  ESB – MuleSoft (8081)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160020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✦  Mediación y transformación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029967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✦  Enrutamiento de mensajes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245973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✦  Orquestación de servicios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288950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✦  Manejo de errores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0" y="1097280"/>
            <a:ext cx="3108960" cy="960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78240" y="111556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API REST – Node.js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149047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Express · MySQL · :3030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2240280"/>
            <a:ext cx="3108960" cy="13258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78240" y="225856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Servicios SOAP – Java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26517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Identidad (Auth)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295351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Certificados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325526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Matching (CV)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23360" y="3931920"/>
            <a:ext cx="4114800" cy="8686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023360" y="395020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  Base de Datos – MySQL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4334256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Esquema compartido: usuarios, empresas, ofertas, cursos, candidaturas…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78608" y="1600200"/>
            <a:ext cx="1417320" cy="91440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43200" y="141732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52A5"/>
                </a:solidFill>
              </a:rPr>
              <a:t>HTTP/REST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56448" y="1481328"/>
            <a:ext cx="621792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38160" y="129844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7AE60"/>
                </a:solidFill>
              </a:rPr>
              <a:t>HTTP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56448" y="2606040"/>
            <a:ext cx="621792" cy="914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92440" y="242316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E44AD"/>
                </a:solidFill>
              </a:rPr>
              <a:t>SOAP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3538728"/>
            <a:ext cx="91440" cy="39319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94960" y="34015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39C12"/>
                </a:solidFill>
              </a:rPr>
              <a:t>JDBC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120640"/>
            <a:ext cx="11612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5166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B6A"/>
                </a:solidFill>
              </a:rPr>
              <a:t>Principios SOA aplicados: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2A5"/>
                </a:solidFill>
              </a:rPr>
              <a:t>Desacoplamiento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815584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Frontend no conoce la BD ni los SOAP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37560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2A5"/>
                </a:solidFill>
              </a:rPr>
              <a:t>Reutilización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5815584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Los 3 SOAP services son llamados por múltiples flujos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2A5"/>
                </a:solidFill>
              </a:rPr>
              <a:t>Interoperabilidad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5815584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Java, Node.js, JS conectados vía estándares abiertos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80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2A5"/>
                </a:solidFill>
              </a:rPr>
              <a:t>Orquestación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98280" y="5815584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MuleSoft coordina el flujo completo de negocio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Principios SOA aplicados en 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Cómo se materializan los principios SOA en las decisiones de diseño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LABORA – Integración de Sistemas SOA  |  MTIS – Grupo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019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8/24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34440"/>
            <a:ext cx="3749039" cy="384048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79" y="128930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Desacoplamiento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618488"/>
            <a:ext cx="3749039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349300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El frontend llama exclusivamente al ESB (puerto 8081). Nunca accede directamente a la BD ni a los servicios SOAP. Cambiar el backend no afecta al cliente.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3474720" cy="548640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1272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Ejemplo: Frontend → ESB  (HTTP)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1234440"/>
            <a:ext cx="3749039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43399" y="128930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Abstracción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59" y="1618488"/>
            <a:ext cx="3749039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0" y="1737360"/>
            <a:ext cx="349300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Los contratos WSDL y el fichero OpenAPI son la interfaz pública. El cliente no sabe si el backend es Java o Node.js; solo conoce la operación y su firma.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3017520"/>
            <a:ext cx="347472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0559" y="31272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Ejemplo: WSDL / OpenAPI 3.0.3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1234440"/>
            <a:ext cx="3749039" cy="38404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75319" y="128930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Reutilización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79" y="1618488"/>
            <a:ext cx="3749039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0" y="1737360"/>
            <a:ext cx="349300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ServicioIdentidad es llamado en el flujo de login, en validaciones y en la comprobación de privilegios. ServicioMatching se invoca cada vez que se publica una oferta.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3017520"/>
            <a:ext cx="3474720" cy="5486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0" y="31272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Ejemplo: 3 SOAP services compartidos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813048"/>
            <a:ext cx="3749039" cy="38404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79" y="3867911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Composabilidad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197096"/>
            <a:ext cx="3749039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4315968"/>
            <a:ext cx="349300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El flujo 'Publicar Oferta' compone cuatro llamadas: validar empresa (REST), validar oferta (REST), guardar (REST), ejecutar matching (SOAP) y notificar. Cada paso es un servicio independiente.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596128"/>
            <a:ext cx="3474720" cy="5486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570585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Ejemplo: Flujos Mule orquestados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59" y="3813048"/>
            <a:ext cx="3749039" cy="3840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43399" y="3867911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Sin estado (Stateless)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51959" y="4197096"/>
            <a:ext cx="3749039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389120" y="4315968"/>
            <a:ext cx="349300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Cada petición HTTP lleva toda la información necesaria (NIF, token, datos). El ESB no guarda estado entre llamadas. La sesión se gestiona en el propio cliente.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0" y="5596128"/>
            <a:ext cx="3474720" cy="5486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80559" y="570585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Ejemplo: HTTP stateless + JWT-like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83879" y="3813048"/>
            <a:ext cx="3749039" cy="38404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75319" y="3867911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Identificación mediante contrato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83879" y="4197096"/>
            <a:ext cx="3749039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21040" y="4315968"/>
            <a:ext cx="349300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Todos los servicios tienen un contrato formal: WSDL para SOAP y OpenAPI para REST. El código del servidor Node.js se generó automáticamente desde el YAML (code-generation).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21040" y="5596128"/>
            <a:ext cx="3474720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12480" y="570585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Ejemplo: Code-gen desde OpenAPI 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Servicios SOAP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Tres servicios Java · WSDL · puerto 9098 · Axis2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LABORA – Integración de Sistemas SOA  |  MTIS – Grupo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019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9/24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34440"/>
            <a:ext cx="3749039" cy="411480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79" y="126187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🔑  ServicioIdentidad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645920"/>
            <a:ext cx="3749039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764792"/>
            <a:ext cx="3493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AutenticarUsuario(nif, password)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185416"/>
            <a:ext cx="3493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7AE60"/>
                </a:solidFill>
              </a:rPr>
              <a:t>→ Devuelve: token + 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3493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VerificarPrivilegios(token, rolRequerido)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026664"/>
            <a:ext cx="3493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7AE60"/>
                </a:solidFill>
              </a:rPr>
              <a:t>→ Devuelve: boolean autorizado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447288"/>
            <a:ext cx="3493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CrearContrasena(nif, nuevaPass)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67912"/>
            <a:ext cx="3493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7AE60"/>
                </a:solidFill>
              </a:rPr>
              <a:t>→ Devuelve: confirmación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88536"/>
            <a:ext cx="3493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────────────────────────────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709160"/>
            <a:ext cx="3493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Roles: DEMANDANTE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129784"/>
            <a:ext cx="3493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       REPRESENTANTE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550408"/>
            <a:ext cx="3493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       ADMINISTRADOR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59" y="1234440"/>
            <a:ext cx="3749039" cy="4114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43399" y="126187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📄  ServicioCertificados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59" y="1645920"/>
            <a:ext cx="3749039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89120" y="1764792"/>
            <a:ext cx="3493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SolicitarCertificado(nif, tipo)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2185416"/>
            <a:ext cx="3493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7AE60"/>
                </a:solidFill>
              </a:rPr>
              <a:t>→ Devuelve: id solicitud + estado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2606040"/>
            <a:ext cx="3493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MarcarCertificado(idCert, decision)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3026664"/>
            <a:ext cx="3493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7AE60"/>
                </a:solidFill>
              </a:rPr>
              <a:t>→ Devuelve: código verificación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3447288"/>
            <a:ext cx="3493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────────────────────────────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3867912"/>
            <a:ext cx="3493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Tipos certificado: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288536"/>
            <a:ext cx="3493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44AD"/>
                </a:solidFill>
              </a:rPr>
              <a:t>• Demandante activo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4709160"/>
            <a:ext cx="3493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44AD"/>
                </a:solidFill>
              </a:rPr>
              <a:t>• Formación completada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5129784"/>
            <a:ext cx="3493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44AD"/>
                </a:solidFill>
              </a:rPr>
              <a:t>• Historial de empleo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550408"/>
            <a:ext cx="3493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44AD"/>
                </a:solidFill>
              </a:rPr>
              <a:t>• Inscripción a curso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83879" y="1234440"/>
            <a:ext cx="3749039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75319" y="126187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🔍  ServicioMatching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83879" y="1645920"/>
            <a:ext cx="3749039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21040" y="1764792"/>
            <a:ext cx="3493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EjecutarMatching(idOferta, topN)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2185416"/>
            <a:ext cx="3493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7AE60"/>
                </a:solidFill>
              </a:rPr>
              <a:t>→ Lanza algoritmo y cachea resultado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2606040"/>
            <a:ext cx="3493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ObtenerCandidatos(idOferta)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3026664"/>
            <a:ext cx="3493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7AE60"/>
                </a:solidFill>
              </a:rPr>
              <a:t>→ Devuelve: lista candidatos (caché)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3447288"/>
            <a:ext cx="3493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────────────────────────────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3867912"/>
            <a:ext cx="3493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Algoritmo de afinidad: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4288536"/>
            <a:ext cx="3493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E60"/>
                </a:solidFill>
              </a:rPr>
              <a:t>• Compara etiquetas CV ↔ oferta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4709160"/>
            <a:ext cx="3493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E60"/>
                </a:solidFill>
              </a:rPr>
              <a:t>• Score mínimo: 50%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5129784"/>
            <a:ext cx="3493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E60"/>
                </a:solidFill>
              </a:rPr>
              <a:t>• Top N candidatos (def. 10)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5550408"/>
            <a:ext cx="3493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E60"/>
                </a:solidFill>
              </a:rPr>
              <a:t>• Ordenados por puntuación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6309360"/>
            <a:ext cx="11548872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20040" y="5961888"/>
            <a:ext cx="11548872" cy="384048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57200" y="5998464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Protocolo: SOAP 1.1  ·  Contratos: WSDL  ·  Estilo: document/literal  ·  Implementación: Apache Axis2 / Java  ·  Endpoint: http://localhost:9098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Algoritmo de Matching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Cómo se conecta a los candidatos más adecuados con una oferta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LABORA – Integración de Sistemas SOA  |  MTIS – Grupo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019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10/24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34440"/>
            <a:ext cx="548640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234440"/>
            <a:ext cx="548640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12618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¿Cómo funciona?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755648"/>
            <a:ext cx="384048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1819656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177393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Recopilar etiquetas de la oferta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080259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La oferta tiene etiquetas: [programación, Python, remoto, junior]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459736"/>
            <a:ext cx="384048" cy="384048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252374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247802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2A5"/>
                </a:solidFill>
              </a:rPr>
              <a:t>Recuperar perfiles de demandantes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280266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</a:rPr>
              <a:t>Cada </a:t>
            </a:r>
            <a:r>
              <a:rPr sz="1100" b="0" i="0" dirty="0" err="1">
                <a:solidFill>
                  <a:srgbClr val="1A1A2E"/>
                </a:solidFill>
              </a:rPr>
              <a:t>demandante</a:t>
            </a:r>
            <a:r>
              <a:rPr sz="1100" b="0" i="0" dirty="0">
                <a:solidFill>
                  <a:srgbClr val="1A1A2E"/>
                </a:solidFill>
              </a:rPr>
              <a:t> </a:t>
            </a:r>
            <a:r>
              <a:rPr sz="1100" b="0" i="0" dirty="0" err="1">
                <a:solidFill>
                  <a:srgbClr val="1A1A2E"/>
                </a:solidFill>
              </a:rPr>
              <a:t>tiene</a:t>
            </a:r>
            <a:r>
              <a:rPr sz="1100" b="0" i="0" dirty="0">
                <a:solidFill>
                  <a:srgbClr val="1A1A2E"/>
                </a:solidFill>
              </a:rPr>
              <a:t> </a:t>
            </a:r>
            <a:r>
              <a:rPr sz="1100" b="0" i="0" dirty="0" err="1">
                <a:solidFill>
                  <a:srgbClr val="1A1A2E"/>
                </a:solidFill>
              </a:rPr>
              <a:t>su</a:t>
            </a:r>
            <a:r>
              <a:rPr sz="1100" b="0" i="0" dirty="0">
                <a:solidFill>
                  <a:srgbClr val="1A1A2E"/>
                </a:solidFill>
              </a:rPr>
              <a:t> CV con </a:t>
            </a:r>
            <a:r>
              <a:rPr sz="1100" b="0" i="0" dirty="0" err="1">
                <a:solidFill>
                  <a:srgbClr val="1A1A2E"/>
                </a:solidFill>
              </a:rPr>
              <a:t>etiquetas</a:t>
            </a:r>
            <a:r>
              <a:rPr sz="1100" b="0" i="0" dirty="0">
                <a:solidFill>
                  <a:srgbClr val="1A1A2E"/>
                </a:solidFill>
              </a:rPr>
              <a:t> de </a:t>
            </a:r>
            <a:r>
              <a:rPr sz="1100" b="0" i="0" dirty="0" err="1">
                <a:solidFill>
                  <a:srgbClr val="1A1A2E"/>
                </a:solidFill>
              </a:rPr>
              <a:t>habilidades</a:t>
            </a:r>
            <a:r>
              <a:rPr sz="1100" b="0" i="0" dirty="0">
                <a:solidFill>
                  <a:srgbClr val="1A1A2E"/>
                </a:solidFill>
              </a:rPr>
              <a:t> </a:t>
            </a:r>
            <a:r>
              <a:rPr sz="1100" b="0" i="0" dirty="0" err="1">
                <a:solidFill>
                  <a:srgbClr val="1A1A2E"/>
                </a:solidFill>
              </a:rPr>
              <a:t>en</a:t>
            </a:r>
            <a:r>
              <a:rPr sz="1100" b="0" i="0" dirty="0">
                <a:solidFill>
                  <a:srgbClr val="1A1A2E"/>
                </a:solidFill>
              </a:rPr>
              <a:t> BD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163824"/>
            <a:ext cx="384048" cy="38404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3227832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318211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</a:rPr>
              <a:t>Calcular score de afinidad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338328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Score = (etiquetas en común / etiquetas oferta) × 100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867912"/>
            <a:ext cx="384048" cy="38404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80" y="3931920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3886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E44AD"/>
                </a:solidFill>
              </a:rPr>
              <a:t>Filtrar por umbral mínimo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408736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Solo se consideran candidatos con score ≥ 50%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572000"/>
            <a:ext cx="384048" cy="38404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80" y="4636008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" y="459028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</a:rPr>
              <a:t>Ordenar y seleccionar top 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" y="479145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Se ordenan por score descendente; se devuelve el top 10 (configurable)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5276088"/>
            <a:ext cx="384048" cy="3840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80" y="5340096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" y="5294375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B8B"/>
                </a:solidFill>
              </a:rPr>
              <a:t>Cachear resultado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" y="549554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ObtenerCandidatos() devuelve la caché sin re-ejecutar el algoritmo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1234440"/>
            <a:ext cx="562356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17920" y="1234440"/>
            <a:ext cx="5623560" cy="41148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09360" y="1261872"/>
            <a:ext cx="5440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Ejemplo: oferta Full Stack Developer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1755648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2A5"/>
                </a:solidFill>
              </a:rPr>
              <a:t>Etiquetas de la oferta: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2029968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1A1A2E"/>
                </a:solidFill>
              </a:rPr>
              <a:t>[</a:t>
            </a:r>
            <a:r>
              <a:rPr sz="1100" b="0" i="1" dirty="0" err="1">
                <a:solidFill>
                  <a:srgbClr val="1A1A2E"/>
                </a:solidFill>
              </a:rPr>
              <a:t>programación</a:t>
            </a:r>
            <a:r>
              <a:rPr sz="1100" b="0" i="1" dirty="0">
                <a:solidFill>
                  <a:srgbClr val="1A1A2E"/>
                </a:solidFill>
              </a:rPr>
              <a:t>, JavaScript, React, Node.js, </a:t>
            </a:r>
            <a:r>
              <a:rPr sz="1100" b="0" i="1" dirty="0" err="1">
                <a:solidFill>
                  <a:srgbClr val="1A1A2E"/>
                </a:solidFill>
              </a:rPr>
              <a:t>remoto</a:t>
            </a:r>
            <a:r>
              <a:rPr sz="1100" b="0" i="1" dirty="0">
                <a:solidFill>
                  <a:srgbClr val="1A1A2E"/>
                </a:solidFill>
              </a:rPr>
              <a:t>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242316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2A5"/>
                </a:solidFill>
              </a:rPr>
              <a:t>Candidatos evaluados: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2788920"/>
            <a:ext cx="534924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92240" y="282549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A1A2E"/>
                </a:solidFill>
              </a:rPr>
              <a:t>María García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75520" y="2825496"/>
            <a:ext cx="822960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875520" y="2834639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4/5 = 80%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3090672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[programación, JavaScript, React, Python, Node.js]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3502152"/>
            <a:ext cx="534924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92240" y="35387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Carlos Martínez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875520" y="3538728"/>
            <a:ext cx="822960" cy="2560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875520" y="354787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2/5 = 40%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3803904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[programación, Java, Spring, Docker, remoto]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4215383"/>
            <a:ext cx="534924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92240" y="4251959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Laura Sánchez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875520" y="4251959"/>
            <a:ext cx="822960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875520" y="4261103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4/5 = 80%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4517136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[programación, JavaScript, Vue, Node.js, remoto]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4928616"/>
            <a:ext cx="534924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492240" y="49651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Pedro Ramírez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875520" y="4965192"/>
            <a:ext cx="822960" cy="2560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875520" y="4974336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0/5 = 0%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92240" y="5230368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[hostelería, cocina, atención al cliente]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5687568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✓ Seleccionados: María García y Laura Sánchez (score ≥ 50%)
✗ Rechazados: Carlos Martínez (40%) y Pedro Ramírez (0%)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Ciclo de vida del certificado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ServicioCertificados SOAP · Workflow completo de solicitud y emisión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LABORA – Integración de Sistemas SOA  |  MTIS – Grupo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019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11/24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331720"/>
            <a:ext cx="9601200" cy="9144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14400" y="1737360"/>
            <a:ext cx="2011680" cy="594360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1828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SOLICITADO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46888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El ciudadano llama a
SolicitarCertificado(nif, tipo)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1737360"/>
            <a:ext cx="2011680" cy="5943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29000" y="1828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PENDIENTE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79" y="246888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La solicitud queda
en estado PENDIENTE
en la BD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1737360"/>
            <a:ext cx="2011680" cy="59436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59" y="1828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EN REVISIÓN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246888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El administrador
consulta las solicitudes
pendientes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79" y="1737360"/>
            <a:ext cx="201168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19" y="1828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APROBADO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46888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Admin llama
MarcarCertificado(id,
'APROBADO')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1737360"/>
            <a:ext cx="201168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75319" y="1828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APROBADO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3154680"/>
            <a:ext cx="2011680" cy="5943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75319" y="3246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RECHAZADO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2011680"/>
            <a:ext cx="91440" cy="141732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692640" y="3429000"/>
            <a:ext cx="320040" cy="914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692640" y="2011680"/>
            <a:ext cx="320040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332720" y="1737360"/>
            <a:ext cx="1645920" cy="5943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378440" y="18288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EMITIDO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78440" y="24688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+ código
verificación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069080"/>
            <a:ext cx="1154887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411480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B6A"/>
                </a:solidFill>
              </a:rPr>
              <a:t>Llamadas SOAP implicadas: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4572000"/>
            <a:ext cx="1234440" cy="347472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29768" y="4617720"/>
            <a:ext cx="11978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Ciudadano 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37360" y="459028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SolicitarCertificado(nif='12345678A', tipo='DEMANDANTE_ACTIVO')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37360" y="4773168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7AE60"/>
                </a:solidFill>
              </a:rPr>
              <a:t>Respuesta: { idCertificado: 42, estado: 'PENDIENTE' }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5148072"/>
            <a:ext cx="123444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29768" y="5193792"/>
            <a:ext cx="11978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Administrador 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5166359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MarcarCertificado(idCertificado=42, decision='APROBADO')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37360" y="5349240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7AE60"/>
                </a:solidFill>
              </a:rPr>
              <a:t>Respuesta: { codigoVerificacion: 'LAB-2026-X7K9', fechaEmision: '2026-05-18' }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5724144"/>
            <a:ext cx="1234440" cy="34747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29768" y="5769864"/>
            <a:ext cx="11978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ESB 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37360" y="5742431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Tras MarcarCertificado, el ESB llama a POST /notificaciones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37360" y="5925312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7AE60"/>
                </a:solidFill>
              </a:rPr>
              <a:t>Email al ciudadano con el código de verificación y fecha de emisión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API 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Node.js + Express · OpenAPI 3.0.3 · puerto 3030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LABORA – Integración de Sistemas SOA  |  MTIS – Grupo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019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12/24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34440"/>
            <a:ext cx="11548872" cy="411480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Recurso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12618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Métodos HTTP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26187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Descripción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664208"/>
            <a:ext cx="1154887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171907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2A5"/>
                </a:solidFill>
              </a:rPr>
              <a:t>/usuarios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171907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GET · POST · PUT · DELETE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71907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Gestión de ciudadanos y administradores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185416"/>
            <a:ext cx="11548872" cy="502920"/>
          </a:xfrm>
          <a:prstGeom prst="rect">
            <a:avLst/>
          </a:prstGeom>
          <a:solidFill>
            <a:srgbClr val="E8F0FA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2240279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2A5"/>
                </a:solidFill>
              </a:rPr>
              <a:t>/empresas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2240279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GET · POST · PUT · DELETE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240279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Registro y gestión de empresas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706624"/>
            <a:ext cx="1154887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2761487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2A5"/>
                </a:solidFill>
              </a:rPr>
              <a:t>/ofertas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2761487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GET · POST · PUT · DELETE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2761487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Publicación y ciclo de vida de ofertas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227832"/>
            <a:ext cx="11548872" cy="502920"/>
          </a:xfrm>
          <a:prstGeom prst="rect">
            <a:avLst/>
          </a:prstGeom>
          <a:solidFill>
            <a:srgbClr val="E8F0FA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328269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2A5"/>
                </a:solidFill>
              </a:rPr>
              <a:t>/cursos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28269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GET · POST · PUT · DELETE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328269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Catálogo e inscripción a formación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749039"/>
            <a:ext cx="1154887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380390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2A5"/>
                </a:solidFill>
              </a:rPr>
              <a:t>/candidaturas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380390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GET · POST · PUT · DELETE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380390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Solicitudes de empleo y seguimiento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270248"/>
            <a:ext cx="11548872" cy="502920"/>
          </a:xfrm>
          <a:prstGeom prst="rect">
            <a:avLst/>
          </a:prstGeom>
          <a:solidFill>
            <a:srgbClr val="E8F0FA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432511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2A5"/>
                </a:solidFill>
              </a:rPr>
              <a:t>/suscripciones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432511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GET · POST · DELETE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432511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Alertas de ofertas/cursos por etiquetas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791456"/>
            <a:ext cx="1154887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48463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2A5"/>
                </a:solidFill>
              </a:rPr>
              <a:t>/notificaciones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4760" y="48463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GET · POST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484632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Envío y registro de notificaciones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312664"/>
            <a:ext cx="11548872" cy="502920"/>
          </a:xfrm>
          <a:prstGeom prst="rect">
            <a:avLst/>
          </a:prstGeom>
          <a:solidFill>
            <a:srgbClr val="E8F0FA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7200" y="5367527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2A5"/>
                </a:solidFill>
              </a:rPr>
              <a:t>/validacion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94760" y="5367527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POST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5367527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Validaciones de negocio y reglas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5961888"/>
            <a:ext cx="11548872" cy="384048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7200" y="5998464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Formato: JSON  ·  Autenticación: cabecera HTTP  ·  Swagger UI: /api-docs/  ·  Generación de código: OpenAPI Generator  ·  BD: MySQL pool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Validaciones de negocio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Endpoint POST /validacion · Dos capas de validación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LABORA – Integración de Sistemas SOA  |  MTIS – Grupo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019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13/24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34440"/>
            <a:ext cx="11548872" cy="914400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Capa 1 – Validación de esquema (OpenAPI / JSON Schema)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7276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El framework Express verifica tipos, campos requeridos y formatos antes de llegar al controlador. Errores 400 Bad Request se devuelven automáticamente.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31720"/>
            <a:ext cx="11548872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35915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Capa 2 – Validación de reglas de negocio (ValidacionController)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7004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El controlador /validacion aplica lógica de negocio contra la BD: existencia de entidades, estados activos, unicidades y elegibilidad.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429000"/>
            <a:ext cx="11548872" cy="384048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4564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Recurso validado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4564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Reglas aplicadas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4564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Respuesta si falla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831336"/>
            <a:ext cx="1154887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386791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2A5"/>
                </a:solidFill>
              </a:rPr>
              <a:t>Usuario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386791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NIF/NIE único, email único, tipo válido, activo para operar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86791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</a:rPr>
              <a:t>409 Conflict / 403 Forbidden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325112"/>
            <a:ext cx="11548872" cy="475488"/>
          </a:xfrm>
          <a:prstGeom prst="rect">
            <a:avLst/>
          </a:prstGeom>
          <a:solidFill>
            <a:srgbClr val="E8F0FA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436168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2A5"/>
                </a:solidFill>
              </a:rPr>
              <a:t>Empresa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36168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CIF único, empresa activa para publicar ofertas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36168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</a:rPr>
              <a:t>409 Conflict / 422 Unprocessable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818888"/>
            <a:ext cx="1154887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485546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2A5"/>
                </a:solidFill>
              </a:rPr>
              <a:t>Oferta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485546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Empresa activa, etiquetas existentes, duración válida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85546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</a:rPr>
              <a:t>422 Unprocessable Entity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312664"/>
            <a:ext cx="11548872" cy="475488"/>
          </a:xfrm>
          <a:prstGeom prst="rect">
            <a:avLst/>
          </a:prstGeom>
          <a:solidFill>
            <a:srgbClr val="E8F0FA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53492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2A5"/>
                </a:solidFill>
              </a:rPr>
              <a:t>Certificado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60" y="53492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Usuario activo, tipo de certificado válido, no duplicado activo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534924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</a:rPr>
              <a:t>409 Conflict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806440"/>
            <a:ext cx="1154887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584301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2A5"/>
                </a:solidFill>
              </a:rPr>
              <a:t>Etiquetas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37560" y="584301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Etiquetas existen en BD, categoría válida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584301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</a:rPr>
              <a:t>404 Not Found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Suscripciones y sistema de alertas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Notificaciones automáticas por etiqueta · Nodemailer · ActiveMQ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LABORA – Integración de Sistemas SOA  |  MTIS – Grupo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019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14/24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34440"/>
            <a:ext cx="11548872" cy="384048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Flujo completo de suscripción → publicación → alerta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737360"/>
            <a:ext cx="502920" cy="475488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1828800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" y="1737360"/>
            <a:ext cx="11018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1773936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2A5"/>
                </a:solidFill>
              </a:rPr>
              <a:t>Demandante se suscribe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773936"/>
            <a:ext cx="7406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POST /suscripciones  { nif: '12345678A', etiqueta: 'programación', tipo: 'OFERTA' 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395728"/>
            <a:ext cx="502920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" y="2487168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2" y="2395728"/>
            <a:ext cx="11018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2432304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Empresa publica oferta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2432304"/>
            <a:ext cx="7406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POST /orquestacion/ofertas con etiquetas: [programación, JavaScript, remoto]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054096"/>
            <a:ext cx="502920" cy="47548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" y="3145536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2" y="3054096"/>
            <a:ext cx="11018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3090672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600"/>
                </a:solidFill>
              </a:rPr>
              <a:t>ESB detecta etiquetas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3090672"/>
            <a:ext cx="7406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Tras guardar la oferta, el flujo MuleSoft consulta suscripciones activas con esas etiquetas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712464"/>
            <a:ext cx="502920" cy="47548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3803904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392" y="3712464"/>
            <a:ext cx="11018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3749040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E44AD"/>
                </a:solidFill>
              </a:rPr>
              <a:t>Notificación enviada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3749040"/>
            <a:ext cx="7406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Para cada suscriptor encontrado: POST /notificaciones → Nodemailer envía email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370831"/>
            <a:ext cx="502920" cy="47548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0040" y="4462271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0392" y="4370831"/>
            <a:ext cx="11018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0120" y="4407407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8B"/>
                </a:solidFill>
              </a:rPr>
              <a:t>Email recibido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4407407"/>
            <a:ext cx="7406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El demandante recibe: 'Nueva oferta que encaja con tu perfil: Full Stack Developer en TechSolutions'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102352"/>
            <a:ext cx="5577840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20040" y="5102352"/>
            <a:ext cx="557784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11480" y="512978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Tipos de suscripción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55955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OFERTA – Alerta cuando se publica una oferta con esa etiqueta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89788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CURSO – Alerta cuando se activa un curso con esa etiqueta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91072" y="5102352"/>
            <a:ext cx="5212080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291072" y="5102352"/>
            <a:ext cx="5212080" cy="38404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82512" y="512978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Tecnologías de notificación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8232" y="55595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Nodemailer (Node.js) → envío SMTP directo por email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28232" y="5897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Apache ActiveMQ (JMS) → cola asíncrona en MuleSoft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ESB – MuleSoft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Núcleo de orquestación · Mediación · Transformación · Enrutamiento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LABORA – Integración de Sistemas SOA  |  MTIS – Grupo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019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15/24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34440"/>
            <a:ext cx="512064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234440"/>
            <a:ext cx="5120640" cy="411480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126187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¿Por qué un ESB?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783080"/>
            <a:ext cx="1280160" cy="411480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18470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Mediación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1856231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Intermediario entre cliente y servicios backend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487168"/>
            <a:ext cx="1280160" cy="411480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2551175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Enrutamiento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2560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Dirige mensajes según contenido o estado de la respuesta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191256"/>
            <a:ext cx="1280160" cy="411480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325526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Transformación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326440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Convierte entre JSON (REST) y XML/SOAP (Java)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895344"/>
            <a:ext cx="1280160" cy="411480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395935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Orquestación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396849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Coordina llamadas a múltiples servicios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599432"/>
            <a:ext cx="1280160" cy="411480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80" y="466344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Error handling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467258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Captura fallos y devuelve respuestas controladas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303520"/>
            <a:ext cx="1280160" cy="411480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80" y="536752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Desacoplamiento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537667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El frontend nunca llama directamente a la BD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52160" y="1234440"/>
            <a:ext cx="6016752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852160" y="1234440"/>
            <a:ext cx="6016752" cy="41148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0" y="1261872"/>
            <a:ext cx="5833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Conectores MuleSoft usados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1783080"/>
            <a:ext cx="1828800" cy="411480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89320" y="184708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HTTP Listener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1856231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Recibe peticiones en puerto 8081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2441448"/>
            <a:ext cx="182880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89320" y="250545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HTTP Request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251460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Llama a la API REST en localhost:3030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3099815"/>
            <a:ext cx="1828800" cy="4114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89320" y="3163823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Web Service Consumer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317296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Invoca los 3 SOAP services en 9098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0" y="3758184"/>
            <a:ext cx="1828800" cy="41148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989320" y="382219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Choice Router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383133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Enrutamiento condicional en flujos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0" y="4416552"/>
            <a:ext cx="1828800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89320" y="448056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Error Handler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448970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Manejo centralizado de excepciones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0" y="5074920"/>
            <a:ext cx="1828800" cy="41148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989320" y="513892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DataWeave 2.0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514807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Transformación de datos JSON ↔ XML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0" y="5733288"/>
            <a:ext cx="182880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89320" y="579729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Logger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63840" y="580644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Registro de eventos y trazabilidad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Flujo: Publicar Oferta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POST /orquestacion/ofertas  – Orquestación_PublicarOfertaFlow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LABORA – Integración de Sistemas SOA  |  MTIS – Grupo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019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16/24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16152"/>
            <a:ext cx="502920" cy="502920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129844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" y="1216152"/>
            <a:ext cx="11064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1261872"/>
            <a:ext cx="3657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2A5"/>
                </a:solidFill>
              </a:rPr>
              <a:t>Empresa envía la oferta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261872"/>
            <a:ext cx="6949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POST /orquestacion/ofertas  con datos: CIF, título, descripción, etiquetas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929384"/>
            <a:ext cx="502920" cy="502920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" y="201168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1929384"/>
            <a:ext cx="11064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1975104"/>
            <a:ext cx="3657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2A5"/>
                </a:solidFill>
              </a:rPr>
              <a:t>Validar empresa activa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975104"/>
            <a:ext cx="6949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ESB → GET /empresas/{cif} — comprueba que la empresa existe y tiene estado activo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642616"/>
            <a:ext cx="502920" cy="502920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" y="272491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" y="2642616"/>
            <a:ext cx="11064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2688336"/>
            <a:ext cx="3657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2A5"/>
                </a:solidFill>
              </a:rPr>
              <a:t>Validar datos de la oferta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2688336"/>
            <a:ext cx="6949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ESB → POST /validacion/ofertas — verifica reglas: etiquetas válidas, campos completos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55848"/>
            <a:ext cx="5029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" y="343814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" y="3355848"/>
            <a:ext cx="11064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3401568"/>
            <a:ext cx="3657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Guardar oferta en BD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3401568"/>
            <a:ext cx="6949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Si empresa activa AND oferta válida → POST /ofertas → estado ACTIVA, ID asignado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069080"/>
            <a:ext cx="502920" cy="5029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4320" y="415137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" y="4069080"/>
            <a:ext cx="11064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4114800"/>
            <a:ext cx="3657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E44AD"/>
                </a:solidFill>
              </a:rPr>
              <a:t>Ejecutar algoritmo Matching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4114800"/>
            <a:ext cx="6949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SOAP EjecutarMatching(idOferta, 10) → analiza CVs, devuelve top candidatos (score ≥ 50%)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782312"/>
            <a:ext cx="5029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4320" y="486460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" y="4782312"/>
            <a:ext cx="11064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4828032"/>
            <a:ext cx="3657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Notificar candidatos y empresa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4828032"/>
            <a:ext cx="6949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POST /notificaciones a cada candidato preseleccionado + email de confirmación a la empresa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495544"/>
            <a:ext cx="502920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74320" y="557784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400" b="1" i="0" dirty="0">
                <a:solidFill>
                  <a:srgbClr val="FFFFFF"/>
                </a:solidFill>
              </a:rPr>
              <a:t>7</a:t>
            </a:r>
            <a:endParaRPr sz="1400" b="1" i="0" dirty="0">
              <a:solidFill>
                <a:srgbClr val="FFFFFF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804672" y="5495544"/>
            <a:ext cx="11064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" y="5541264"/>
            <a:ext cx="3657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</a:rPr>
              <a:t>Rechazar si inválido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0" y="5541264"/>
            <a:ext cx="6949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Si empresa inactiva OR datos inválidos → email de rechazo a empresa con motivo detallado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Flujo: Solicitar Certificado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Dos subflujos: solicitud del ciudadano y revisión del administrador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LABORA – Integración de Sistemas SOA  |  MTIS – Grupo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019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17/24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2344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52A5"/>
                </a:solidFill>
              </a:rPr>
              <a:t>SUBFLUJO A – Ciudadano solicita un certificado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502920" cy="502920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170992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1627632"/>
            <a:ext cx="11064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1673352"/>
            <a:ext cx="3657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2A5"/>
                </a:solidFill>
              </a:rPr>
              <a:t>Login del ciudadano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673352"/>
            <a:ext cx="6949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SOAP AutenticarUsuario(nif, password) → token + rol DEMANDANTE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249424"/>
            <a:ext cx="502920" cy="502920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23317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" y="2249424"/>
            <a:ext cx="11064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2295144"/>
            <a:ext cx="3657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2A5"/>
                </a:solidFill>
              </a:rPr>
              <a:t>Validar elegibilidad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295144"/>
            <a:ext cx="6949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ESB → POST /validacion verifica que el usuario está activo y no tiene ya ese certificado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871216"/>
            <a:ext cx="5029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" y="295351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" y="2871216"/>
            <a:ext cx="11064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2916936"/>
            <a:ext cx="3657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Registrar solicitud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2916936"/>
            <a:ext cx="6949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SOAP SolicitarCertificado(nif, tipo) → { idCertificado: 42, estado: 'PENDIENTE' 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493008"/>
            <a:ext cx="5029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4320" y="357530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" y="3493008"/>
            <a:ext cx="11064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3538728"/>
            <a:ext cx="3657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Confirmar al ciudadano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538728"/>
            <a:ext cx="6949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POST /notificaciones → email: 'Tu solicitud #42 está siendo procesada'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206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E44AD"/>
                </a:solidFill>
              </a:rPr>
              <a:t>SUBFLUJO B – Administrador revisa y resuelve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608576"/>
            <a:ext cx="502920" cy="5029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320" y="469087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" y="4608576"/>
            <a:ext cx="11064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4654296"/>
            <a:ext cx="3657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E44AD"/>
                </a:solidFill>
              </a:rPr>
              <a:t>Login del administrador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4654296"/>
            <a:ext cx="6949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SOAP AutenticarUsuario + VerificarPrivilegios(token, 'ADMINISTRADOR') → autorizado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111496"/>
            <a:ext cx="502920" cy="5029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74320" y="51937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2" y="5111496"/>
            <a:ext cx="11064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" y="5157216"/>
            <a:ext cx="3657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E44AD"/>
                </a:solidFill>
              </a:rPr>
              <a:t>Consultar pendientes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0" y="5157216"/>
            <a:ext cx="6949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GET /candidaturas?estado=PENDIENTE o llamada directa a BD → lista de solicitudes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614416"/>
            <a:ext cx="5029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4320" y="569671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2" y="5614416"/>
            <a:ext cx="11064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14400" y="5660136"/>
            <a:ext cx="3657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Aprobar o rechazar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0" y="5660136"/>
            <a:ext cx="6949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SOAP MarcarCertificado(42, 'APROBADO') → { codigoVerificacion: 'LAB-2026-X7K9' }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6117336"/>
            <a:ext cx="5029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4672" y="6117336"/>
            <a:ext cx="11064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14400" y="6163056"/>
            <a:ext cx="3657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Notificar al ciudadano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0" y="6163056"/>
            <a:ext cx="6949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POST /notificaciones → email al ciudadano con código de verificación y fecha de emisión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Gestión de errores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Estrategia de manejo de fallos en todas las capas del sistema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LABORA – Integración de Sistemas SOA  |  MTIS – Grupo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019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18/24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34440"/>
            <a:ext cx="5669280" cy="384048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79" y="128930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Frontend (JavaScript)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618488"/>
            <a:ext cx="5669280" cy="20848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709928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try/catch en todas las llamadas fetch()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020824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Mensajes de error mostrados al usuario en toast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331720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Validación client-side antes de enviar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642615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No expone detalles técnicos al usuario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234440"/>
            <a:ext cx="566928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79" y="128930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API REST (Node.js/Express)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618488"/>
            <a:ext cx="5669280" cy="20848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1709928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Middleware global de manejo de errores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020824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HTTP 400 → validación de esquema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331720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HTTP 404 → recurso no encontrado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642615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HTTP 409 → conflicto (duplicado)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953511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HTTP 422 → regla de negocio fallida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264407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HTTP 500 → error interno de servidor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813048"/>
            <a:ext cx="5669280" cy="38404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79" y="3867911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ESB (MuleSoft)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197096"/>
            <a:ext cx="5669280" cy="20848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4288536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On Error Propagate en cada flujo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599431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Choice Router evalúa el status HTTP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910327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Si REST devuelve 4xx → flujo alternativo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221223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Error handler global registra en log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532119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Respuesta controlada al cliente (no stack)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843015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Logger en cada punto de decisión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3813048"/>
            <a:ext cx="5669280" cy="38404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55079" y="3867911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SOAP Services (Java)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4197096"/>
            <a:ext cx="5669280" cy="2084832"/>
          </a:xfrm>
          <a:prstGeom prst="rect">
            <a:avLst/>
          </a:prstGeom>
          <a:solidFill>
            <a:srgbClr val="F0F4F8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0" y="4288536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SOAPFault para errores de protocolo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599431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Faults definidos en los WSDL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910327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MuleSoft captura SOAP faults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221223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Se transforma en respuesta JSON al cliente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Modelo de dominio y base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MySQL · InnoDB · 9 entidades · Clave primaria NIF/NIE para ciudadanos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LABORA – Integración de Sistemas SOA  |  MTIS – Grupo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019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19/24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2377440" cy="365760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2893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usuario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00200"/>
            <a:ext cx="23774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691640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600"/>
                </a:solidFill>
              </a:rPr>
              <a:t>PK: id_nie (NIF/NIE)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039112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nombre, apellidos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386584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email (UNIQUE)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734056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tipo: DEMANDANTE 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081528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REPRESENTANTE 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429000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ADMINISTRADOR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1234440"/>
            <a:ext cx="237744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88920" y="12893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empresa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1600200"/>
            <a:ext cx="23774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34640" y="1691640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600"/>
                </a:solidFill>
              </a:rPr>
              <a:t>PK: cif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2039112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nombre, razón social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2386584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sector: MICRO/PEQUEÑA/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2734056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MEDIANA/GRANDE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3081528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activo: boolean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12080" y="1234440"/>
            <a:ext cx="2377440" cy="36576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57800" y="12893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oferta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12080" y="1600200"/>
            <a:ext cx="23774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03520" y="1691640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600"/>
                </a:solidFill>
              </a:rPr>
              <a:t>PK: id (OFE-2026-NNN)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2039112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E44AD"/>
                </a:solidFill>
              </a:rPr>
              <a:t>FK: cif_empresa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2386584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título, descripción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2734056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duracion: INDEFINIDO 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3081528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TEMPORAL / PRACTICAS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3429000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estado: ACTIVA/CERRADA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80960" y="1234440"/>
            <a:ext cx="2377440" cy="3657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26680" y="12893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candidatura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80960" y="1600200"/>
            <a:ext cx="23774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72400" y="1691640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600"/>
                </a:solidFill>
              </a:rPr>
              <a:t>PK: id (auto)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2039112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E44AD"/>
                </a:solidFill>
              </a:rPr>
              <a:t>FK: id_candidato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2386584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E44AD"/>
                </a:solidFill>
              </a:rPr>
              <a:t>FK: id_oferta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2734056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estado: PENDIENTE /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3081528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PRESELECCIONADO /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3429000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ACEPTADO/RECHAZADO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149840" y="1234440"/>
            <a:ext cx="2377440" cy="3657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195560" y="12893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certificado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149840" y="1600200"/>
            <a:ext cx="23774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241280" y="1691640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600"/>
                </a:solidFill>
              </a:rPr>
              <a:t>PK: id (auto)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2039112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E44AD"/>
                </a:solidFill>
              </a:rPr>
              <a:t>FK: id_nie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0" y="2386584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tipo, estado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2734056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código verificación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3081528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fecha_emision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114800"/>
            <a:ext cx="2377440" cy="36576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20040" y="4169663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curso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480560"/>
            <a:ext cx="23774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65760" y="4572000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600"/>
                </a:solidFill>
              </a:rPr>
              <a:t>PK: id (auto)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4919472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título, descripción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5266944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fecha_inicio, fecha_fin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5614416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estado: activo /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5961888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inactivo / finalizado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0" y="4114800"/>
            <a:ext cx="237744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788920" y="4169663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etiqueta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0" y="4480560"/>
            <a:ext cx="23774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834640" y="4572000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600"/>
                </a:solidFill>
              </a:rPr>
              <a:t>PK: id (auto)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34640" y="4919472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nombre (UNIQUE)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34640" y="5266944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categoría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834640" y="5614416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─ M:N con ofertas,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834640" y="5961888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cursos y suscripciones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212080" y="4114800"/>
            <a:ext cx="2377440" cy="3657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257800" y="4169663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suscripcion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12080" y="4480560"/>
            <a:ext cx="23774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303520" y="4572000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600"/>
                </a:solidFill>
              </a:rPr>
              <a:t>PK: id (auto)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03520" y="4919472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E44AD"/>
                </a:solidFill>
              </a:rPr>
              <a:t>FK: id_nie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03520" y="5266944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E44AD"/>
                </a:solidFill>
              </a:rPr>
              <a:t>FK: id_etiqueta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03520" y="5614416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tipo: OFERTA / CURSO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03520" y="5961888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─ genera alertas email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680960" y="4114800"/>
            <a:ext cx="2377440" cy="3657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726680" y="4169663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notificacion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80960" y="4480560"/>
            <a:ext cx="23774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772400" y="4572000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600"/>
                </a:solidFill>
              </a:rPr>
              <a:t>PK: id (auto)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72400" y="4919472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E44AD"/>
                </a:solidFill>
              </a:rPr>
              <a:t>FK: destinatario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772400" y="5266944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asunto, cuerpo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772400" y="5614416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fecha_envio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772400" y="5961888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canal: EMAIL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Datos de prueba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Escenario realista cargado en BD · labora_inserts.sql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LABORA – Integración de Sistemas SOA  |  MTIS – Grupo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019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20/24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34440"/>
            <a:ext cx="2834640" cy="411480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79" y="12618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👤 Usuarios (5)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645920"/>
            <a:ext cx="28346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755648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María García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92938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12345678A  DEMANDANTE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148840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Carlos Martínez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32257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87654321B  DEMANDANTE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542032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Laura Sánchez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71576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11223344C  DEMANDANTE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35224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Admin LABORA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1089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99999999Z  ADMINISTRADOR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328415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Pedro Ramírez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502151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55667788D  REPRESENTANTE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64408" y="1234440"/>
            <a:ext cx="283464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55848" y="12618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🏢 Empresas (3)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64408" y="1645920"/>
            <a:ext cx="28346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01568" y="1755648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TechSolutions S.L.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01568" y="192938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A12345678  MEDIANA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01568" y="2148840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LogiTrans S.A.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01568" y="232257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B87654321  GRANDE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01568" y="2542032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RestauBar S.L.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01568" y="271576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C11223344  MICRO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08776" y="1234440"/>
            <a:ext cx="2834640" cy="41148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00216" y="12618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💼 Ofertas activas (3)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08776" y="1645920"/>
            <a:ext cx="28346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45936" y="1755648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Full Stack Developer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45936" y="192938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TechSolutions  INDEFINIDO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45936" y="2148840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Jefe de Logística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45936" y="232257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LogiTrans  TEMPORAL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45936" y="2542032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Cocinero/a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45936" y="271576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RestauBar  PRACTICAS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53144" y="1234440"/>
            <a:ext cx="2834640" cy="4114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44584" y="12618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📚 Cursos (3)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53144" y="1645920"/>
            <a:ext cx="28346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290304" y="1755648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Programación Web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90304" y="192938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activo  01/06/2026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90304" y="2148840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Python para Data Science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90304" y="232257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activo  15/06/2026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90304" y="2542032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Gestión de Almacén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90304" y="271576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activo  01/07/2026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4114800"/>
            <a:ext cx="11548872" cy="411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57200" y="414223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🏷️  Etiquetas disponibles (10): programación · JavaScript · Python · hostelería · logística · remoto · junior · senior · data-science · gestión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4681728"/>
            <a:ext cx="1154887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20040" y="4681728"/>
            <a:ext cx="11548872" cy="384048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57200" y="470916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Escenario de matching – oferta 'Full Stack Developer' (etiquetas: programación, JavaScript, remoto)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51480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María García → score 80%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54223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1A2E"/>
                </a:solidFill>
              </a:rPr>
              <a:t>Etiquetas: programación, JS, React, Python, Node.js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0" y="51480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Laura Sánchez → score 80%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0" y="54223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1A2E"/>
                </a:solidFill>
              </a:rPr>
              <a:t>Etiquetas: programación, JS, Vue, Node.js, remoto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72400" y="514807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</a:rPr>
              <a:t>Carlos Martínez → score 40% ✗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72400" y="542239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1A2E"/>
                </a:solidFill>
              </a:rPr>
              <a:t>Etiquetas: programación, Java, Spring, Docker, remoto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58521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✓ Seleccionados y notificados: María García y Laura Sánchez  ✗ Pedro Ramírez (hostelería) → score 0%, no notificado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Decisiones de diseño y desafíos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Por qué elegimos cada tecnología y qué problemas encontramos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LABORA – Integración de Sistemas SOA  |  MTIS – Grupo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019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22/24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34440"/>
            <a:ext cx="566928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234440"/>
            <a:ext cx="5669280" cy="411480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12618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Decisiones de diseño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755648"/>
            <a:ext cx="544068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1801368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SOAP para servicios críticos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093976"/>
            <a:ext cx="5440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Identidad y Certificados requieren contrato estricto y trazabilidad. SOAP+WSDL garantiza que cualquier cambio rompe la interfaz explícitamente.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852928"/>
            <a:ext cx="5440680" cy="320040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898648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REST para la API de datos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191256"/>
            <a:ext cx="5440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Los 8 recursos CRUD son más ágiles en REST. OpenAPI permite code-gen automático del servidor Node.js desde el YAML.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950208"/>
            <a:ext cx="544068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3995928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MuleSoft como ESB central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288536"/>
            <a:ext cx="5440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Evita que el frontend dependa de varios backends. DataWeave 2.0 gestiona las transformaciones XML↔JSON sin código Java extra.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5047488"/>
            <a:ext cx="5440680" cy="3200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5093207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MySQL como BD compartida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385816"/>
            <a:ext cx="5440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Una sola BD simplifica la consistencia. InnoDB con FK garantiza integridad referencial entre entidades.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1234440"/>
            <a:ext cx="5559552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60" y="1234440"/>
            <a:ext cx="5559552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1261872"/>
            <a:ext cx="5376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Desafíos encontrados y soluciones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1755648"/>
            <a:ext cx="5303520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180136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Ajuste de puertos en WSDL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093976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Los WSDL apuntaban a puertos incorrectos. Solución: editar manualmente el endpoint en cada WSDL y actualizarlo en el Web Service Consumer de Mule.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2852928"/>
            <a:ext cx="5303520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0" y="289864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Nombres de campos BD ↔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191256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El campo de la clave primaria del usuario cambió varias veces. Solución: estandarizar como id_nie en BD, API y todos los servicios SOAP.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950208"/>
            <a:ext cx="5303520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92240" y="399592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Transformación XML ↔ JSON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288536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MuleSoft recibe JSON del cliente pero los SOAP esperan XML. Solución: DataWeave 2.0 con scripts de transformación en cada flujo.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5047488"/>
            <a:ext cx="5303520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92240" y="5093207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Servicio Matching con caché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385816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Ejecutar matching en cada consulta era costoso. Solución: separar EjecutarMatching (escribe caché) y ObtenerCandidatos (lee caché).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Conclusiones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CD6E0"/>
                </a:solidFill>
              </a:rPr>
              <a:t>Lo que hemos aprendido y logrado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3749039" cy="2057400"/>
          </a:xfrm>
          <a:prstGeom prst="rect">
            <a:avLst/>
          </a:prstGeom>
          <a:solidFill>
            <a:srgbClr val="0A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91440" cy="20574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7" y="152704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600"/>
                </a:solidFill>
              </a:rPr>
              <a:t>SOA en la práctica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938528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Hemos aplicado los principios SOA en un caso real: desacoplamiento, reutilización de servicios, contratos explícitos y separación por capas.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3672" y="1417320"/>
            <a:ext cx="3749039" cy="2057400"/>
          </a:xfrm>
          <a:prstGeom prst="rect">
            <a:avLst/>
          </a:prstGeom>
          <a:solidFill>
            <a:srgbClr val="0A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33672" y="1417320"/>
            <a:ext cx="91440" cy="20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152704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ESB como núcleo integrador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938528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MuleSoft ha demostrado su valor como hub de integración, coordinando sistemas heterogéneos (Java, Node.js, JS) sin acoplamiento directo.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47304" y="1417320"/>
            <a:ext cx="3749039" cy="2057400"/>
          </a:xfrm>
          <a:prstGeom prst="rect">
            <a:avLst/>
          </a:prstGeom>
          <a:solidFill>
            <a:srgbClr val="0A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47304" y="1417320"/>
            <a:ext cx="91440" cy="20574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48472" y="152704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600"/>
                </a:solidFill>
              </a:rPr>
              <a:t>SOAP y REST complementarios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2" y="1938528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SOAP para servicios críticos con contrato estricto (autenticación, certificados); REST para la API de datos con flexibilidad y agilidad.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30168"/>
            <a:ext cx="3749039" cy="2057400"/>
          </a:xfrm>
          <a:prstGeom prst="rect">
            <a:avLst/>
          </a:prstGeom>
          <a:solidFill>
            <a:srgbClr val="0A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3630168"/>
            <a:ext cx="91440" cy="20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1207" y="373989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Integración realista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7" y="4151376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El escenario LABORA refleja los retos reales: sistemas heterogéneos, roles diferenciados, algoritmos de matching y notificaciones asíncronas.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33672" y="3630168"/>
            <a:ext cx="3749039" cy="2057400"/>
          </a:xfrm>
          <a:prstGeom prst="rect">
            <a:avLst/>
          </a:prstGeom>
          <a:solidFill>
            <a:srgbClr val="0A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33672" y="3630168"/>
            <a:ext cx="91440" cy="20574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34840" y="373989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600"/>
                </a:solidFill>
              </a:rPr>
              <a:t>Interoperabilidad garantizada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151376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Java, Node.js y JavaScript conviven gracias a estándares abiertos: WSDL, OpenAPI, JSON y XML. Cambiar un backend no afecta a los demás.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47304" y="3630168"/>
            <a:ext cx="3749039" cy="2057400"/>
          </a:xfrm>
          <a:prstGeom prst="rect">
            <a:avLst/>
          </a:prstGeom>
          <a:solidFill>
            <a:srgbClr val="0A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47304" y="3630168"/>
            <a:ext cx="91440" cy="20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48472" y="373989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Valor del proyecto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2" y="4151376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El sistema cubre el ciclo completo: registro → oferta → matching → candidatura → certificado → notificación, en un entorno empresarial real simulado.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32764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MTIS – Integración y Middleware  ·  Grupo 7  ·  Curso 2025–2026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4089</Words>
  <Application>Microsoft Office PowerPoint</Application>
  <PresentationFormat>自定义</PresentationFormat>
  <Paragraphs>659</Paragraphs>
  <Slides>22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6" baseType="lpstr">
      <vt:lpstr>Aptos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linux do</cp:lastModifiedBy>
  <cp:revision>5</cp:revision>
  <dcterms:created xsi:type="dcterms:W3CDTF">2013-01-27T09:14:16Z</dcterms:created>
  <dcterms:modified xsi:type="dcterms:W3CDTF">2026-05-19T19:12:09Z</dcterms:modified>
  <cp:category/>
</cp:coreProperties>
</file>